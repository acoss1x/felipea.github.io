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3A71-C999-E893-CF94-4CD491F05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B365E-146C-7657-5649-5DE26A17D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3D732-A11D-C31E-F1A1-5CC926242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67D55-B4BA-A7C9-691F-05263F45DA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46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05921-EECA-5CA5-7EB4-902543A4C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185A4-5B8A-D200-A1A2-9E569B883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C6899-B070-1EF7-0C35-BC73E2D33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7C390-4C5E-57C8-F0A2-4A33A978C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43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Laboratorio </a:t>
            </a:r>
            <a:r>
              <a:rPr lang="en-US" sz="3800" b="1" dirty="0" err="1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Optimización</a:t>
            </a:r>
            <a:r>
              <a:rPr lang="en-US" sz="3800" b="1" dirty="0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SQL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optimización sobre el esquema RAPIDEX, escalado de 120 mil a más de 2,4 millones de filas en Oracle 19c.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6172200"/>
            <a:ext cx="10698480" cy="0"/>
          </a:xfrm>
          <a:prstGeom prst="line">
            <a:avLst/>
          </a:prstGeom>
          <a:noFill/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42748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Felipe Acosta Rozo y Santiago Muñoz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D6C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00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laboratorio: esquema RAPIDEX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dominio de mensajería y domicilios, construido para practicar joins, subconsultas, CTE, </a:t>
            </a:r>
            <a:r>
              <a:rPr lang="en-US" sz="125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r>
              <a:rPr lang="en-US" sz="12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para la </a:t>
            </a:r>
            <a:r>
              <a:rPr lang="en-US" sz="125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lang="en-US" sz="12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949538"/>
              </p:ext>
            </p:extLst>
          </p:nvPr>
        </p:nvGraphicFramePr>
        <p:xfrm>
          <a:off x="731520" y="1481328"/>
          <a:ext cx="10698480" cy="2606037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representa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Zonas de la ciudad (origen/destino de rutas)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REPARTIDOR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Mensajeros disponibles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Clientes, con auto-referencia de "quién refirió a quién"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Trayectos entre zonas, con fecha de salida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E4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120.000 a 2.420.000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Domicilios asociados a </a:t>
                      </a:r>
                      <a:r>
                        <a:rPr lang="en-US" sz="1200" dirty="0" err="1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</a:t>
                      </a: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Retrasos, daños o reclamos por ruta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4315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ya existentes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81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idx_ruta_fecha</a:t>
            </a:r>
            <a:r>
              <a:rPr lang="en-US" sz="11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sobre RUTA(fecha_salida)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956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idx_pedido_ruta</a:t>
            </a:r>
            <a:r>
              <a:rPr lang="en-US" sz="11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compuesto sobre PEDIDO(id_ruta, estado)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200258" y="4315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queríamos poner a prueba?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200258" y="4585716"/>
            <a:ext cx="45326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reglas de optimización vistas en clase (selectividad, estadísticas) se sostienen igual cuando la tabla pasa de cientos de miles a millones de filas reales.</a:t>
            </a:r>
            <a:endParaRPr lang="en-US" sz="11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A7C3690-9819-8089-B286-26B82E367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885" y="4397515"/>
            <a:ext cx="211455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D6C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503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 1: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533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¿Basta con que un filtro sea selectivo para que el optimizador use el índice?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3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habíamos</a:t>
            </a:r>
            <a:r>
              <a:rPr lang="en-US" sz="13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visto </a:t>
            </a:r>
            <a:r>
              <a:rPr lang="en-US" sz="13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índice sirve para descartar filas rápido.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más selectivo el filtro (menos filas devuelve), más conviene usar el índice.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experimento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2860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Filtramos WHERE id_ruta = 12, que solo trae el 2,7% de PEDIDO (</a:t>
            </a:r>
            <a:r>
              <a:rPr lang="en-US" sz="1250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selectividad</a:t>
            </a: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Repetimos la misma consulta con PEDIDO en dos tamaños: 120.000 y 2.120.000 filas.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Miramos el plan real con EXPLAIN PLAN en ambos casos.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10698480" cy="0"/>
          </a:xfrm>
          <a:prstGeom prst="line">
            <a:avLst/>
          </a:prstGeom>
          <a:noFill/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4383521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antes de correrlo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72001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2,7% de selectividad, esperábamos que el optimizador usara el índice idx_pedido_ruta en ambas </a:t>
            </a:r>
            <a:r>
              <a:rPr lang="en-US" sz="125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</a:t>
            </a:r>
            <a:r>
              <a:rPr lang="en-US" sz="12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sobre todo en la tabla grande, donde leer todo de corrido parece más caro.</a:t>
            </a:r>
            <a:endParaRPr lang="en-US" sz="12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799BCA7-FF46-2C71-A9D3-0F6A1D4E4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763" y="5067876"/>
            <a:ext cx="2070794" cy="1440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D6C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503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</a:t>
            </a:r>
            <a:r>
              <a:rPr lang="en-US" sz="2400" b="1" dirty="0" err="1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</a:t>
            </a:r>
            <a:r>
              <a:rPr lang="en-US" sz="2400" b="1" dirty="0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400" b="1" dirty="0" err="1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realmente</a:t>
            </a:r>
            <a:r>
              <a:rPr lang="en-US" sz="2400" b="1" dirty="0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400" b="1" dirty="0" err="1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pasó</a:t>
            </a:r>
            <a:r>
              <a:rPr lang="en-US" sz="2400" b="1" dirty="0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: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573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ignoró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dos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mostramos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361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quedaron los datos: filas de id_ruta=12 dispersas en casi todos los bloques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6404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53312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68196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75104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96896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11780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33572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0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62272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77156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84064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98948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05856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27648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42532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49440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64324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71232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93024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07908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814816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29700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436608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058400" y="182880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73284" y="1961388"/>
            <a:ext cx="137160" cy="137160"/>
          </a:xfrm>
          <a:prstGeom prst="ellipse">
            <a:avLst/>
          </a:prstGeom>
          <a:solidFill>
            <a:srgbClr val="AE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31520" y="22860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</a:t>
            </a:r>
            <a:r>
              <a:rPr lang="en-US" sz="1000" dirty="0" err="1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</a:t>
            </a:r>
            <a:r>
              <a:rPr lang="en-US" sz="1000" dirty="0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 de 16 </a:t>
            </a:r>
            <a:r>
              <a:rPr lang="en-US" sz="1000" dirty="0" err="1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r>
              <a:rPr lang="en-US" sz="1000" dirty="0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para </a:t>
            </a:r>
            <a:r>
              <a:rPr lang="en-US" sz="1000" dirty="0" err="1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</a:t>
            </a:r>
            <a:r>
              <a:rPr lang="en-US" sz="1000" dirty="0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</a:t>
            </a:r>
            <a:r>
              <a:rPr lang="en-US" sz="1000" dirty="0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 err="1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</a:t>
            </a:r>
            <a:r>
              <a:rPr lang="en-US" sz="1000" dirty="0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000" dirty="0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leer </a:t>
            </a:r>
            <a:r>
              <a:rPr lang="en-US" sz="1000" dirty="0" err="1">
                <a:solidFill>
                  <a:srgbClr val="AE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2542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tendrían que estar para que el índice ganara: agrupadas en pocos bloques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46404" y="2967228"/>
            <a:ext cx="137160" cy="137160"/>
          </a:xfrm>
          <a:prstGeom prst="ellipse">
            <a:avLst/>
          </a:prstGeom>
          <a:solidFill>
            <a:srgbClr val="3D7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353312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568196" y="2967228"/>
            <a:ext cx="137160" cy="137160"/>
          </a:xfrm>
          <a:prstGeom prst="ellipse">
            <a:avLst/>
          </a:prstGeom>
          <a:solidFill>
            <a:srgbClr val="3D7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975104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596896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18688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40480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462272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84064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705856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27648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949440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571232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193024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814816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436608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058400" y="2834640"/>
            <a:ext cx="566928" cy="402336"/>
          </a:xfrm>
          <a:prstGeom prst="rect">
            <a:avLst/>
          </a:prstGeom>
          <a:solidFill>
            <a:srgbClr val="F4F3EF"/>
          </a:solidFill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731520" y="32918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</a:t>
            </a:r>
            <a:r>
              <a:rPr lang="en-US" sz="1000" dirty="0" err="1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abriría</a:t>
            </a:r>
            <a:r>
              <a:rPr lang="en-US" sz="100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2 de 16 </a:t>
            </a:r>
            <a:r>
              <a:rPr lang="en-US" sz="1000" dirty="0" err="1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r>
              <a:rPr lang="en-US" sz="100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ahí </a:t>
            </a:r>
            <a:r>
              <a:rPr lang="en-US" sz="1000" dirty="0" err="1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r>
              <a:rPr lang="en-US" sz="100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valdría</a:t>
            </a:r>
            <a:r>
              <a:rPr lang="en-US" sz="100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000" dirty="0" err="1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</a:t>
            </a:r>
            <a:r>
              <a:rPr lang="en-US" sz="100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000" dirty="0" err="1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1520" y="3749040"/>
            <a:ext cx="10698480" cy="0"/>
          </a:xfrm>
          <a:prstGeom prst="line">
            <a:avLst/>
          </a:prstGeom>
          <a:noFill/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424937"/>
              </p:ext>
            </p:extLst>
          </p:nvPr>
        </p:nvGraphicFramePr>
        <p:xfrm>
          <a:off x="731520" y="3931920"/>
          <a:ext cx="10698480" cy="960120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4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de PEDIDO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4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estimadas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4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4F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120.000 filas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E4E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ACCESS FULL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2.120.000 filas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E4E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ACCESS FULL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Text 53"/>
          <p:cNvSpPr txBox="1"/>
          <p:nvPr/>
        </p:nvSpPr>
        <p:spPr>
          <a:xfrm>
            <a:off x="727349" y="5121763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selectividad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cambió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(2,7%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ambas), y el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tampoco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cambió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causa real es el factor de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agrupamiento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 juntas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físicamente</a:t>
            </a:r>
            <a:r>
              <a:rPr lang="en-US" sz="120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5FBC2-2CD6-66BC-CC93-6F249BE1B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agen 61">
            <a:extLst>
              <a:ext uri="{FF2B5EF4-FFF2-40B4-BE49-F238E27FC236}">
                <a16:creationId xmlns:a16="http://schemas.microsoft.com/office/drawing/2014/main" id="{F2478AD4-8180-5F36-52B7-2E10FCC89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4" y="1611474"/>
            <a:ext cx="5495925" cy="3467100"/>
          </a:xfrm>
          <a:prstGeom prst="rect">
            <a:avLst/>
          </a:prstGeom>
        </p:spPr>
      </p:pic>
      <p:sp>
        <p:nvSpPr>
          <p:cNvPr id="64" name="Text 3">
            <a:extLst>
              <a:ext uri="{FF2B5EF4-FFF2-40B4-BE49-F238E27FC236}">
                <a16:creationId xmlns:a16="http://schemas.microsoft.com/office/drawing/2014/main" id="{6B64BA62-680E-2F25-D333-1DDAC089F722}"/>
              </a:ext>
            </a:extLst>
          </p:cNvPr>
          <p:cNvSpPr txBox="1"/>
          <p:nvPr/>
        </p:nvSpPr>
        <p:spPr>
          <a:xfrm>
            <a:off x="2065331" y="967550"/>
            <a:ext cx="2376040" cy="236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PLAN con PEDIDO </a:t>
            </a:r>
            <a:r>
              <a:rPr lang="en-US" sz="20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0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120.000 </a:t>
            </a:r>
            <a:r>
              <a:rPr lang="en-US" sz="20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2000" dirty="0"/>
          </a:p>
        </p:txBody>
      </p:sp>
      <p:pic>
        <p:nvPicPr>
          <p:cNvPr id="66" name="Imagen 65">
            <a:extLst>
              <a:ext uri="{FF2B5EF4-FFF2-40B4-BE49-F238E27FC236}">
                <a16:creationId xmlns:a16="http://schemas.microsoft.com/office/drawing/2014/main" id="{F0D5F5FB-5074-F148-0A58-8FAF61AA0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1" y="1596312"/>
            <a:ext cx="5267325" cy="3686175"/>
          </a:xfrm>
          <a:prstGeom prst="rect">
            <a:avLst/>
          </a:prstGeom>
        </p:spPr>
      </p:pic>
      <p:sp>
        <p:nvSpPr>
          <p:cNvPr id="68" name="Text 3">
            <a:extLst>
              <a:ext uri="{FF2B5EF4-FFF2-40B4-BE49-F238E27FC236}">
                <a16:creationId xmlns:a16="http://schemas.microsoft.com/office/drawing/2014/main" id="{79BD0BAD-A65B-2725-8B5E-9987D0FA9F32}"/>
              </a:ext>
            </a:extLst>
          </p:cNvPr>
          <p:cNvSpPr txBox="1"/>
          <p:nvPr/>
        </p:nvSpPr>
        <p:spPr>
          <a:xfrm>
            <a:off x="7663174" y="967550"/>
            <a:ext cx="2590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PLAN con PEDIDO </a:t>
            </a:r>
            <a:r>
              <a:rPr lang="en-US" sz="20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0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2.120.000 </a:t>
            </a:r>
            <a:r>
              <a:rPr lang="en-US" sz="20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59483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D6C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503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F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 2: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533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cuando el optimizador decide con información vieja?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sabíamos de clase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optimizador decide con un resumen guardado (estadísticas), no mirando la tabla en vivo.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tabla crece y nadie actualiza ese resumen, el plan queda pensado para un tamaño que ya no existe.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experimento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2860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Insertamos 300.000 filas más a PEDIDO (INSERT normal, sin APPEND), sin llamar GATHER_TABLE_STATS después.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Comparamos el plan antes y después de actualizar estadísticas a mano.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10698480" cy="0"/>
          </a:xfrm>
          <a:prstGeom prst="line">
            <a:avLst/>
          </a:prstGeom>
          <a:noFill/>
          <a:ln w="12700">
            <a:solidFill>
              <a:srgbClr val="D8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43434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hallazgo extra en el camino: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63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1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/*+ APPEND */</a:t>
            </a:r>
            <a:r>
              <a:rPr lang="en-US" sz="12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sí dispara</a:t>
            </a:r>
            <a:r>
              <a:rPr lang="en-US" sz="1250" i="1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online statistics gathering </a:t>
            </a:r>
            <a:r>
              <a:rPr lang="en-US" sz="1250" dirty="0">
                <a:solidFill>
                  <a:srgbClr val="6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Oracle 12c+, pero solo si la tabla o partición estaba vacía antes de la carga. Como PEDIDO ya tenía datos, esa regla no aplicó — por eso el demo final usa un INSERT normal, sin depender de ese mecanismo.</a:t>
            </a:r>
            <a:endParaRPr lang="en-US" sz="12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42FD4B6-5F42-0B48-EEF7-485DF735E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636" y="5559794"/>
            <a:ext cx="3008728" cy="8247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51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503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 2: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533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Misma consulta, letra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letra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el único cambio fue si el optimizador tenía datos frescos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436086"/>
              </p:ext>
            </p:extLst>
          </p:nvPr>
        </p:nvGraphicFramePr>
        <p:xfrm>
          <a:off x="731520" y="1965960"/>
          <a:ext cx="10698480" cy="1638300"/>
        </p:xfrm>
        <a:graphic>
          <a:graphicData uri="http://schemas.openxmlformats.org/drawingml/2006/table">
            <a:tbl>
              <a:tblPr/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Momento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est.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num_rows (stats)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 reales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insertar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57.297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3.306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2.120.000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2.120.000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Insertadas 300k, SIN actualizar stats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57.297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3.306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2.120.000 (viejo)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2.420.000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Después de GATHER_TABLE_STATS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65.405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3.860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2.420.000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2.420.000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36576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fila del medio es la evidencia: con 300.000 filas nuevas ya insertadas, el plan siguió calculando exactamente igual que antes (57.297 / 3.306) hasta que se llamó GATHER_TABLE_STATS explícitamente.</a:t>
            </a:r>
            <a:endParaRPr lang="en-US" sz="1250" dirty="0"/>
          </a:p>
        </p:txBody>
      </p:sp>
      <p:sp>
        <p:nvSpPr>
          <p:cNvPr id="5" name="Shape 4"/>
          <p:cNvSpPr/>
          <p:nvPr/>
        </p:nvSpPr>
        <p:spPr>
          <a:xfrm>
            <a:off x="731520" y="4389120"/>
            <a:ext cx="10698480" cy="0"/>
          </a:xfrm>
          <a:prstGeom prst="line">
            <a:avLst/>
          </a:prstGeom>
          <a:noFill/>
          <a:ln w="12700">
            <a:solidFill>
              <a:srgbClr val="4A5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CB8DBB5-355B-F3C1-C6FD-51A3EA7349D6}"/>
              </a:ext>
            </a:extLst>
          </p:cNvPr>
          <p:cNvSpPr txBox="1"/>
          <p:nvPr/>
        </p:nvSpPr>
        <p:spPr>
          <a:xfrm>
            <a:off x="746760" y="4444465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O" sz="1250" dirty="0">
                <a:solidFill>
                  <a:srgbClr val="AA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habíamos visto en clase que estadísticas viejas = decisiones malas, acá lo comprobamos y a mayor escala,  y en el camino también descubrimos un hallazgo del APPEND.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2584-3030-4298-E2C3-4F1C8741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3">
            <a:extLst>
              <a:ext uri="{FF2B5EF4-FFF2-40B4-BE49-F238E27FC236}">
                <a16:creationId xmlns:a16="http://schemas.microsoft.com/office/drawing/2014/main" id="{9A8C93BE-DAC7-9BE5-53FC-B3FC36001A78}"/>
              </a:ext>
            </a:extLst>
          </p:cNvPr>
          <p:cNvSpPr txBox="1"/>
          <p:nvPr/>
        </p:nvSpPr>
        <p:spPr>
          <a:xfrm>
            <a:off x="2065331" y="967550"/>
            <a:ext cx="2376040" cy="236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PLAN con </a:t>
            </a:r>
            <a:r>
              <a:rPr lang="en-US" sz="20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r>
              <a:rPr lang="en-US" sz="20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desactualizadas</a:t>
            </a:r>
            <a:endParaRPr lang="en-US" sz="2000" dirty="0"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8402172E-D326-C8D4-A613-AC8A804AB6A2}"/>
              </a:ext>
            </a:extLst>
          </p:cNvPr>
          <p:cNvSpPr txBox="1"/>
          <p:nvPr/>
        </p:nvSpPr>
        <p:spPr>
          <a:xfrm>
            <a:off x="7663174" y="967550"/>
            <a:ext cx="2590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PLAN </a:t>
            </a:r>
            <a:r>
              <a:rPr lang="en-US" sz="2000" b="1" dirty="0" err="1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r>
              <a:rPr lang="en-US" sz="2000" b="1" dirty="0">
                <a:solidFill>
                  <a:srgbClr val="1C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GATHER_TABLE_STATS</a:t>
            </a:r>
            <a:endParaRPr lang="en-U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0210B3-0D55-7084-1D1A-FFEAF3DF2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4" y="1832882"/>
            <a:ext cx="5343525" cy="28003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720A8D7-1D7E-2AB6-3372-DB28AEB3B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935" y="1832882"/>
            <a:ext cx="534352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9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810</Words>
  <Application>Microsoft Office PowerPoint</Application>
  <PresentationFormat>Panorámica</PresentationFormat>
  <Paragraphs>113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</dc:title>
  <dc:subject>PptxGenJS Presentation</dc:subject>
  <dc:creator>Daniel Felipe Acosta Rozo</dc:creator>
  <cp:lastModifiedBy>Daniel Felipe Acosta Rozo</cp:lastModifiedBy>
  <cp:revision>4</cp:revision>
  <dcterms:created xsi:type="dcterms:W3CDTF">2026-09-11T03:07:09Z</dcterms:created>
  <dcterms:modified xsi:type="dcterms:W3CDTF">2026-09-13T04:11:42Z</dcterms:modified>
</cp:coreProperties>
</file>